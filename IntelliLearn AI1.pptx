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TT Norms Bold" panose="020B0604020202020204" charset="0"/>
      <p:regular r:id="rId9"/>
    </p:embeddedFont>
    <p:embeddedFont>
      <p:font typeface="TT Norms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388750"/>
            <a:ext cx="12382643" cy="135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28"/>
              </a:lnSpc>
            </a:pPr>
            <a:r>
              <a:rPr lang="en-US" sz="12438" b="1" spc="-1019">
                <a:solidFill>
                  <a:srgbClr val="303030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INTELLILEARN AI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33462" y="5521441"/>
            <a:ext cx="13705340" cy="462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3199" b="1" spc="-262">
                <a:solidFill>
                  <a:srgbClr val="8C8F7B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SKILL GAP PREDICTOR  &amp;  PERSONALIZED LEARNING RECOMMENDER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579481" y="8598732"/>
            <a:ext cx="5436265" cy="65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5"/>
              </a:lnSpc>
            </a:pPr>
            <a:r>
              <a:rPr lang="en-US" sz="1557" b="1" spc="-127">
                <a:solidFill>
                  <a:srgbClr val="303030"/>
                </a:solidFill>
                <a:latin typeface="TT Norms Bold"/>
                <a:ea typeface="TT Norms Bold"/>
                <a:cs typeface="TT Norms Bold"/>
                <a:sym typeface="TT Norms Bold"/>
              </a:rPr>
              <a:t>PRESENTED BY : RISHIKESH S PILLAI</a:t>
            </a:r>
          </a:p>
          <a:p>
            <a:pPr algn="l">
              <a:lnSpc>
                <a:spcPts val="1775"/>
              </a:lnSpc>
            </a:pPr>
            <a:r>
              <a:rPr lang="en-US" sz="1557" b="1" spc="-127">
                <a:solidFill>
                  <a:srgbClr val="303030"/>
                </a:solidFill>
                <a:latin typeface="TT Norms Bold"/>
                <a:ea typeface="TT Norms Bold"/>
                <a:cs typeface="TT Norms Bold"/>
                <a:sym typeface="TT Norms Bold"/>
              </a:rPr>
              <a:t>                                                        RESHMI KRISHNA</a:t>
            </a:r>
          </a:p>
          <a:p>
            <a:pPr algn="l">
              <a:lnSpc>
                <a:spcPts val="1775"/>
              </a:lnSpc>
            </a:pPr>
            <a:endParaRPr lang="en-US" sz="1557" b="1" spc="-127">
              <a:solidFill>
                <a:srgbClr val="303030"/>
              </a:solidFill>
              <a:latin typeface="TT Norms Bold"/>
              <a:ea typeface="TT Norms Bold"/>
              <a:cs typeface="TT Norms Bold"/>
              <a:sym typeface="TT Norm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95350"/>
            <a:ext cx="4610100" cy="1126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32"/>
              </a:lnSpc>
              <a:spcBef>
                <a:spcPct val="0"/>
              </a:spcBef>
            </a:pPr>
            <a:r>
              <a:rPr lang="en-US" sz="6523" b="1" spc="-534" dirty="0">
                <a:solidFill>
                  <a:srgbClr val="000000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PROBLEM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915171"/>
            <a:ext cx="11772900" cy="36922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93677" lvl="1" indent="-446839" algn="just">
              <a:lnSpc>
                <a:spcPts val="5795"/>
              </a:lnSpc>
              <a:buFont typeface="Arial"/>
              <a:buChar char="•"/>
            </a:pPr>
            <a:r>
              <a:rPr lang="en-US" sz="4139" b="1" spc="-339" dirty="0">
                <a:solidFill>
                  <a:srgbClr val="8C8F7B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HARD TO  TRACK  EVOLVING  SKILL  NEEDS</a:t>
            </a:r>
          </a:p>
          <a:p>
            <a:pPr algn="just">
              <a:lnSpc>
                <a:spcPts val="5795"/>
              </a:lnSpc>
            </a:pPr>
            <a:endParaRPr lang="en-US" sz="4139" b="1" spc="-339" dirty="0">
              <a:solidFill>
                <a:srgbClr val="8C8F7B"/>
              </a:solidFill>
              <a:latin typeface="TT Norms Ultra-Bold"/>
              <a:ea typeface="TT Norms Ultra-Bold"/>
              <a:cs typeface="TT Norms Ultra-Bold"/>
              <a:sym typeface="TT Norms Ultra-Bold"/>
            </a:endParaRPr>
          </a:p>
          <a:p>
            <a:pPr marL="893677" lvl="1" indent="-446839" algn="just">
              <a:lnSpc>
                <a:spcPts val="5795"/>
              </a:lnSpc>
              <a:buFont typeface="Arial"/>
              <a:buChar char="•"/>
            </a:pPr>
            <a:r>
              <a:rPr lang="en-US" sz="4139" b="1" spc="-339" dirty="0">
                <a:solidFill>
                  <a:srgbClr val="8C8F7B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GENERIC  TRAINING → LOW  ENGAGEMENT</a:t>
            </a:r>
          </a:p>
          <a:p>
            <a:pPr algn="just">
              <a:lnSpc>
                <a:spcPts val="5795"/>
              </a:lnSpc>
            </a:pPr>
            <a:endParaRPr lang="en-US" sz="4139" b="1" spc="-339" dirty="0">
              <a:solidFill>
                <a:srgbClr val="8C8F7B"/>
              </a:solidFill>
              <a:latin typeface="TT Norms Ultra-Bold"/>
              <a:ea typeface="TT Norms Ultra-Bold"/>
              <a:cs typeface="TT Norms Ultra-Bold"/>
              <a:sym typeface="TT Norms Ultra-Bold"/>
            </a:endParaRPr>
          </a:p>
          <a:p>
            <a:pPr marL="893677" lvl="1" indent="-446839" algn="just">
              <a:lnSpc>
                <a:spcPts val="5795"/>
              </a:lnSpc>
              <a:buFont typeface="Arial"/>
              <a:buChar char="•"/>
            </a:pPr>
            <a:r>
              <a:rPr lang="en-US" sz="4139" b="1" spc="-339" dirty="0">
                <a:solidFill>
                  <a:srgbClr val="8C8F7B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NO CLEAR WAY  TO MEASURE LEARNING ROI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895350"/>
            <a:ext cx="8282317" cy="1126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2"/>
              </a:lnSpc>
              <a:spcBef>
                <a:spcPct val="0"/>
              </a:spcBef>
            </a:pPr>
            <a:r>
              <a:rPr lang="en-US" sz="6523" b="1" spc="-534">
                <a:solidFill>
                  <a:srgbClr val="000000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 OUR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972163"/>
            <a:ext cx="14668500" cy="2204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93677" lvl="1" indent="-446839" algn="just">
              <a:lnSpc>
                <a:spcPts val="5795"/>
              </a:lnSpc>
              <a:buFont typeface="Arial"/>
              <a:buChar char="•"/>
            </a:pPr>
            <a:r>
              <a:rPr lang="en-US" sz="4139" b="1" spc="-339" dirty="0">
                <a:solidFill>
                  <a:srgbClr val="8C8F7B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AI PREDICTS  INDIVIDUAL SKILL GAPS</a:t>
            </a:r>
          </a:p>
          <a:p>
            <a:pPr algn="just">
              <a:lnSpc>
                <a:spcPts val="5795"/>
              </a:lnSpc>
            </a:pPr>
            <a:endParaRPr lang="en-US" sz="4139" b="1" spc="-339" dirty="0">
              <a:solidFill>
                <a:srgbClr val="8C8F7B"/>
              </a:solidFill>
              <a:latin typeface="TT Norms Ultra-Bold"/>
              <a:ea typeface="TT Norms Ultra-Bold"/>
              <a:cs typeface="TT Norms Ultra-Bold"/>
              <a:sym typeface="TT Norms Ultra-Bold"/>
            </a:endParaRPr>
          </a:p>
          <a:p>
            <a:pPr marL="893677" lvl="1" indent="-446839" algn="just">
              <a:lnSpc>
                <a:spcPts val="5795"/>
              </a:lnSpc>
              <a:buFont typeface="Arial"/>
              <a:buChar char="•"/>
            </a:pPr>
            <a:r>
              <a:rPr lang="en-US" sz="4139" b="1" spc="-339" dirty="0">
                <a:solidFill>
                  <a:srgbClr val="8C8F7B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DASHBOARD SHOWS WORKFORCE READINESS &amp; ROI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6256" y="895350"/>
            <a:ext cx="8282317" cy="1126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2"/>
              </a:lnSpc>
              <a:spcBef>
                <a:spcPct val="0"/>
              </a:spcBef>
            </a:pPr>
            <a:r>
              <a:rPr lang="en-US" sz="6523" b="1" spc="-534">
                <a:solidFill>
                  <a:srgbClr val="000000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HOW  IT  WORKS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686413"/>
            <a:ext cx="12611100" cy="6667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93677" lvl="1" indent="-446839" algn="just">
              <a:lnSpc>
                <a:spcPts val="5795"/>
              </a:lnSpc>
              <a:buFont typeface="Arial"/>
              <a:buChar char="•"/>
            </a:pPr>
            <a:r>
              <a:rPr lang="en-US" sz="4139" b="1" spc="-339" dirty="0">
                <a:solidFill>
                  <a:srgbClr val="8C8F7B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COLLECT  HR + PERFORMANCE  DATA</a:t>
            </a:r>
          </a:p>
          <a:p>
            <a:pPr algn="just">
              <a:lnSpc>
                <a:spcPts val="5795"/>
              </a:lnSpc>
            </a:pPr>
            <a:endParaRPr lang="en-US" sz="4139" b="1" spc="-339" dirty="0">
              <a:solidFill>
                <a:srgbClr val="8C8F7B"/>
              </a:solidFill>
              <a:latin typeface="TT Norms Ultra-Bold"/>
              <a:ea typeface="TT Norms Ultra-Bold"/>
              <a:cs typeface="TT Norms Ultra-Bold"/>
              <a:sym typeface="TT Norms Ultra-Bold"/>
            </a:endParaRPr>
          </a:p>
          <a:p>
            <a:pPr marL="893677" lvl="1" indent="-446839" algn="just">
              <a:lnSpc>
                <a:spcPts val="5795"/>
              </a:lnSpc>
              <a:buFont typeface="Arial"/>
              <a:buChar char="•"/>
            </a:pPr>
            <a:r>
              <a:rPr lang="en-US" sz="4139" b="1" spc="-339" dirty="0">
                <a:solidFill>
                  <a:srgbClr val="8C8F7B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PREDICT  MISSING  SKILLS (ML MODELS)</a:t>
            </a:r>
          </a:p>
          <a:p>
            <a:pPr algn="just">
              <a:lnSpc>
                <a:spcPts val="5795"/>
              </a:lnSpc>
            </a:pPr>
            <a:endParaRPr lang="en-US" sz="4139" b="1" spc="-339" dirty="0">
              <a:solidFill>
                <a:srgbClr val="8C8F7B"/>
              </a:solidFill>
              <a:latin typeface="TT Norms Ultra-Bold"/>
              <a:ea typeface="TT Norms Ultra-Bold"/>
              <a:cs typeface="TT Norms Ultra-Bold"/>
              <a:sym typeface="TT Norms Ultra-Bold"/>
            </a:endParaRPr>
          </a:p>
          <a:p>
            <a:pPr marL="893677" lvl="1" indent="-446839" algn="just">
              <a:lnSpc>
                <a:spcPts val="5795"/>
              </a:lnSpc>
              <a:buFont typeface="Arial"/>
              <a:buChar char="•"/>
            </a:pPr>
            <a:r>
              <a:rPr lang="en-US" sz="4139" b="1" spc="-339" dirty="0">
                <a:solidFill>
                  <a:srgbClr val="8C8F7B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LLM CHATBOT → INTERACT &amp; REFINE GOALS</a:t>
            </a:r>
          </a:p>
          <a:p>
            <a:pPr algn="just">
              <a:lnSpc>
                <a:spcPts val="5795"/>
              </a:lnSpc>
            </a:pPr>
            <a:endParaRPr lang="en-US" sz="4139" b="1" spc="-339" dirty="0">
              <a:solidFill>
                <a:srgbClr val="8C8F7B"/>
              </a:solidFill>
              <a:latin typeface="TT Norms Ultra-Bold"/>
              <a:ea typeface="TT Norms Ultra-Bold"/>
              <a:cs typeface="TT Norms Ultra-Bold"/>
              <a:sym typeface="TT Norms Ultra-Bold"/>
            </a:endParaRPr>
          </a:p>
          <a:p>
            <a:pPr marL="893677" lvl="1" indent="-446839" algn="just">
              <a:lnSpc>
                <a:spcPts val="5795"/>
              </a:lnSpc>
              <a:buFont typeface="Arial"/>
              <a:buChar char="•"/>
            </a:pPr>
            <a:r>
              <a:rPr lang="en-US" sz="4139" b="1" spc="-339" dirty="0">
                <a:solidFill>
                  <a:srgbClr val="8C8F7B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 RECOMMEND LEARNING MODULES</a:t>
            </a:r>
          </a:p>
          <a:p>
            <a:pPr algn="just">
              <a:lnSpc>
                <a:spcPts val="5795"/>
              </a:lnSpc>
            </a:pPr>
            <a:endParaRPr lang="en-US" sz="4139" b="1" spc="-339" dirty="0">
              <a:solidFill>
                <a:srgbClr val="8C8F7B"/>
              </a:solidFill>
              <a:latin typeface="TT Norms Ultra-Bold"/>
              <a:ea typeface="TT Norms Ultra-Bold"/>
              <a:cs typeface="TT Norms Ultra-Bold"/>
              <a:sym typeface="TT Norms Ultra-Bold"/>
            </a:endParaRPr>
          </a:p>
          <a:p>
            <a:pPr marL="893677" lvl="1" indent="-446839" algn="just">
              <a:lnSpc>
                <a:spcPts val="5795"/>
              </a:lnSpc>
              <a:buFont typeface="Arial"/>
              <a:buChar char="•"/>
            </a:pPr>
            <a:r>
              <a:rPr lang="en-US" sz="4139" b="1" spc="-339" dirty="0">
                <a:solidFill>
                  <a:srgbClr val="8C8F7B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TRACK  ROI &amp; READINESS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6256" y="895350"/>
            <a:ext cx="8282317" cy="1126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2"/>
              </a:lnSpc>
              <a:spcBef>
                <a:spcPct val="0"/>
              </a:spcBef>
            </a:pPr>
            <a:r>
              <a:rPr lang="en-US" sz="6523" b="1" spc="-534">
                <a:solidFill>
                  <a:srgbClr val="000000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KEY  FEATURES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552882"/>
            <a:ext cx="15125700" cy="5179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795"/>
              </a:lnSpc>
            </a:pPr>
            <a:endParaRPr dirty="0"/>
          </a:p>
          <a:p>
            <a:pPr marL="893677" lvl="1" indent="-446839" algn="just">
              <a:lnSpc>
                <a:spcPts val="5795"/>
              </a:lnSpc>
              <a:buFont typeface="Arial"/>
              <a:buChar char="•"/>
            </a:pPr>
            <a:r>
              <a:rPr lang="en-US" sz="4139" b="1" spc="-339" dirty="0">
                <a:solidFill>
                  <a:srgbClr val="8C8F7B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HYBRID RECOMMENDER - PERSONALIZED  LEARNING</a:t>
            </a:r>
          </a:p>
          <a:p>
            <a:pPr algn="just">
              <a:lnSpc>
                <a:spcPts val="5795"/>
              </a:lnSpc>
            </a:pPr>
            <a:endParaRPr lang="en-US" sz="4139" b="1" spc="-339" dirty="0">
              <a:solidFill>
                <a:srgbClr val="8C8F7B"/>
              </a:solidFill>
              <a:latin typeface="TT Norms Ultra-Bold"/>
              <a:ea typeface="TT Norms Ultra-Bold"/>
              <a:cs typeface="TT Norms Ultra-Bold"/>
              <a:sym typeface="TT Norms Ultra-Bold"/>
            </a:endParaRPr>
          </a:p>
          <a:p>
            <a:pPr marL="893677" lvl="1" indent="-446839" algn="just">
              <a:lnSpc>
                <a:spcPts val="5795"/>
              </a:lnSpc>
              <a:buFont typeface="Arial"/>
              <a:buChar char="•"/>
            </a:pPr>
            <a:r>
              <a:rPr lang="en-US" sz="4139" b="1" spc="-339" dirty="0">
                <a:solidFill>
                  <a:srgbClr val="8C8F7B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ANALYTICS DASHBOARD - ROI &amp;  PROGRESS  INSIGHTS</a:t>
            </a:r>
          </a:p>
          <a:p>
            <a:pPr algn="just">
              <a:lnSpc>
                <a:spcPts val="5795"/>
              </a:lnSpc>
            </a:pPr>
            <a:endParaRPr lang="en-US" sz="4139" b="1" spc="-339" dirty="0">
              <a:solidFill>
                <a:srgbClr val="8C8F7B"/>
              </a:solidFill>
              <a:latin typeface="TT Norms Ultra-Bold"/>
              <a:ea typeface="TT Norms Ultra-Bold"/>
              <a:cs typeface="TT Norms Ultra-Bold"/>
              <a:sym typeface="TT Norms Ultra-Bold"/>
            </a:endParaRPr>
          </a:p>
          <a:p>
            <a:pPr marL="893677" lvl="1" indent="-446839" algn="just">
              <a:lnSpc>
                <a:spcPts val="5795"/>
              </a:lnSpc>
              <a:buFont typeface="Arial"/>
              <a:buChar char="•"/>
            </a:pPr>
            <a:r>
              <a:rPr lang="en-US" sz="4139" b="1" spc="-339" dirty="0">
                <a:solidFill>
                  <a:srgbClr val="8C8F7B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CONTINUOUS LEARNING - IMPROVES  VIA  FEEDBACK</a:t>
            </a:r>
          </a:p>
          <a:p>
            <a:pPr algn="just">
              <a:lnSpc>
                <a:spcPts val="5795"/>
              </a:lnSpc>
            </a:pPr>
            <a:endParaRPr lang="en-US" sz="4139" b="1" spc="-339" dirty="0">
              <a:solidFill>
                <a:srgbClr val="8C8F7B"/>
              </a:solidFill>
              <a:latin typeface="TT Norms Ultra-Bold"/>
              <a:ea typeface="TT Norms Ultra-Bold"/>
              <a:cs typeface="TT Norms Ultra-Bold"/>
              <a:sym typeface="TT Norms Ultra-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6660" y="895350"/>
            <a:ext cx="10660662" cy="1126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2"/>
              </a:lnSpc>
              <a:spcBef>
                <a:spcPct val="0"/>
              </a:spcBef>
            </a:pPr>
            <a:r>
              <a:rPr lang="en-US" sz="6523" b="1" spc="-534">
                <a:solidFill>
                  <a:srgbClr val="000000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 IMPACT &amp; FUTURE SCOPE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286307"/>
            <a:ext cx="15278100" cy="36922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93677" lvl="1" indent="-446839" algn="just">
              <a:lnSpc>
                <a:spcPts val="5795"/>
              </a:lnSpc>
              <a:buFont typeface="Arial"/>
              <a:buChar char="•"/>
            </a:pPr>
            <a:r>
              <a:rPr lang="en-US" sz="4139" b="1" spc="-339" dirty="0">
                <a:solidFill>
                  <a:srgbClr val="8C8F7B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 25% IMPROVEMENT IN READINESS</a:t>
            </a:r>
          </a:p>
          <a:p>
            <a:pPr algn="just">
              <a:lnSpc>
                <a:spcPts val="5795"/>
              </a:lnSpc>
            </a:pPr>
            <a:endParaRPr lang="en-US" sz="4139" b="1" spc="-339" dirty="0">
              <a:solidFill>
                <a:srgbClr val="8C8F7B"/>
              </a:solidFill>
              <a:latin typeface="TT Norms Ultra-Bold"/>
              <a:ea typeface="TT Norms Ultra-Bold"/>
              <a:cs typeface="TT Norms Ultra-Bold"/>
              <a:sym typeface="TT Norms Ultra-Bold"/>
            </a:endParaRPr>
          </a:p>
          <a:p>
            <a:pPr marL="893677" lvl="1" indent="-446839" algn="just">
              <a:lnSpc>
                <a:spcPts val="5795"/>
              </a:lnSpc>
              <a:buFont typeface="Arial"/>
              <a:buChar char="•"/>
            </a:pPr>
            <a:r>
              <a:rPr lang="en-US" sz="4139" b="1" spc="-339" dirty="0">
                <a:solidFill>
                  <a:srgbClr val="8C8F7B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BETTER TRAINING  ROI  TRACKING</a:t>
            </a:r>
          </a:p>
          <a:p>
            <a:pPr algn="just">
              <a:lnSpc>
                <a:spcPts val="5795"/>
              </a:lnSpc>
            </a:pPr>
            <a:endParaRPr lang="en-US" sz="4139" b="1" spc="-339" dirty="0">
              <a:solidFill>
                <a:srgbClr val="8C8F7B"/>
              </a:solidFill>
              <a:latin typeface="TT Norms Ultra-Bold"/>
              <a:ea typeface="TT Norms Ultra-Bold"/>
              <a:cs typeface="TT Norms Ultra-Bold"/>
              <a:sym typeface="TT Norms Ultra-Bold"/>
            </a:endParaRPr>
          </a:p>
          <a:p>
            <a:pPr marL="893677" lvl="1" indent="-446839" algn="just">
              <a:lnSpc>
                <a:spcPts val="5795"/>
              </a:lnSpc>
              <a:buFont typeface="Arial"/>
              <a:buChar char="•"/>
            </a:pPr>
            <a:r>
              <a:rPr lang="en-US" sz="4139" b="1" spc="-339" dirty="0">
                <a:solidFill>
                  <a:srgbClr val="8C8F7B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FUTURE : HRMS INTEGRATION, GAMIFIED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26338" y="4486560"/>
            <a:ext cx="6035323" cy="1313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749"/>
              </a:lnSpc>
              <a:spcBef>
                <a:spcPct val="0"/>
              </a:spcBef>
            </a:pPr>
            <a:r>
              <a:rPr lang="en-US" sz="7678" b="1" spc="-629" dirty="0">
                <a:solidFill>
                  <a:srgbClr val="000000"/>
                </a:solidFill>
                <a:latin typeface="TT Norms Ultra-Bold"/>
                <a:ea typeface="TT Norms Ultra-Bold"/>
                <a:cs typeface="TT Norms Ultra-Bold"/>
                <a:sym typeface="TT Norms Ultra-Bold"/>
              </a:rPr>
              <a:t>THANK  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125</Words>
  <Application>Microsoft Office PowerPoint</Application>
  <PresentationFormat>Custom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TT Norms Bold</vt:lpstr>
      <vt:lpstr>Calibri</vt:lpstr>
      <vt:lpstr>Arial</vt:lpstr>
      <vt:lpstr>TT Norms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IntelliLearn AI</dc:title>
  <cp:lastModifiedBy>Rishikesh S</cp:lastModifiedBy>
  <cp:revision>3</cp:revision>
  <dcterms:created xsi:type="dcterms:W3CDTF">2006-08-16T00:00:00Z</dcterms:created>
  <dcterms:modified xsi:type="dcterms:W3CDTF">2025-11-01T04:34:31Z</dcterms:modified>
  <dc:identifier>DAG3aJNxJhs</dc:identifier>
</cp:coreProperties>
</file>